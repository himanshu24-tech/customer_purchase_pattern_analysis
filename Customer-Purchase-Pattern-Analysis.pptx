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strument Sans"/>
      <p:regular r:id="rId201314"/>
    </p:embeddedFont>
    <p:embeddedFont>
      <p:font typeface="Instrument Sans Medium"/>
      <p:regular r:id="rId201315"/>
    </p:embeddedFont>
    <p:embeddedFont>
      <p:font typeface="Instrument Sans SemiBold"/>
      <p:regular r:id="rId201316"/>
    </p:embeddedFont>
    <p:embeddedFont>
      <p:font typeface="Instrument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CEE6F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114" y="254198"/>
            <a:ext cx="3089970" cy="4635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Customer Purchase Pattern Analysis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Uncovering spending patterns, customer segments, and product preferences across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3,900 transactions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CEE6F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9422" y="232395"/>
            <a:ext cx="3119140" cy="46787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36364"/>
            <a:ext cx="322607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Dataset at a Glance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496119" y="967606"/>
            <a:ext cx="4722763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3,900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2165300" y="1453381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Transactions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96119" y="1854771"/>
            <a:ext cx="4722763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18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2165300" y="2340546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Columns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96119" y="2741935"/>
            <a:ext cx="4722763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37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2165300" y="3227710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Missing Values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96119" y="3452589"/>
            <a:ext cx="47227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Review Rating only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96119" y="3838724"/>
            <a:ext cx="4722763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2165300" y="4324499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Categories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96119" y="4549378"/>
            <a:ext cx="47227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Clothing, Footwear, Accessories, Outerwear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4728"/>
            <a:ext cx="495195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 Preparation in Python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407" y="1291233"/>
            <a:ext cx="6339185" cy="2901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6361" y="3503531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Load to DB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56456" y="3388898"/>
            <a:ext cx="1190143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Standardize &amp; Engineer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64702" y="3388898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Handle Missing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740341" y="3388898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Load &amp; Explore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35195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promo_code_used dropped as redundant with discount_applied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2.1×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than female customers — a significant gap worth investigating.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8202"/>
            <a:ext cx="511351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Product &amp; Shipping Insights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5549"/>
            <a:ext cx="25203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Top 5 Products by Rating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76474"/>
            <a:ext cx="3902943" cy="28093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9701" y="1295549"/>
            <a:ext cx="22726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Shipping Comparison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749701" y="1676474"/>
            <a:ext cx="1880592" cy="911647"/>
          </a:xfrm>
          <a:prstGeom prst="roundRect">
            <a:avLst>
              <a:gd name="adj" fmla="val 13996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10510" y="1837283"/>
            <a:ext cx="15589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Standard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10510" y="2200498"/>
            <a:ext cx="1558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Avg spend: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$58.46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72052" y="1676474"/>
            <a:ext cx="1880592" cy="911647"/>
          </a:xfrm>
          <a:prstGeom prst="roundRect">
            <a:avLst>
              <a:gd name="adj" fmla="val 13996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32861" y="1837283"/>
            <a:ext cx="15589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Express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932861" y="2200498"/>
            <a:ext cx="1558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Avg spend: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$60.48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CEE6F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114" y="254198"/>
            <a:ext cx="3089970" cy="4635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89907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Subscribers vs. Non-Subscribers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496119" y="1997646"/>
            <a:ext cx="4722763" cy="1633686"/>
          </a:xfrm>
          <a:prstGeom prst="roundRect">
            <a:avLst>
              <a:gd name="adj" fmla="val 7810"/>
            </a:avLst>
          </a:prstGeom>
          <a:solidFill>
            <a:srgbClr val="CEE6FD"/>
          </a:solidFill>
          <a:ln/>
        </p:spPr>
      </p:sp>
      <p:sp>
        <p:nvSpPr>
          <p:cNvPr id="6" name="Shape 3"/>
          <p:cNvSpPr/>
          <p:nvPr/>
        </p:nvSpPr>
        <p:spPr>
          <a:xfrm>
            <a:off x="496119" y="1997646"/>
            <a:ext cx="4722763" cy="816843"/>
          </a:xfrm>
          <a:prstGeom prst="rect">
            <a:avLst/>
          </a:prstGeom>
          <a:solidFill>
            <a:srgbClr val="CEE6FD"/>
          </a:solidFill>
          <a:ln/>
        </p:spPr>
      </p:sp>
      <p:sp>
        <p:nvSpPr>
          <p:cNvPr id="7" name="Text 4"/>
          <p:cNvSpPr/>
          <p:nvPr/>
        </p:nvSpPr>
        <p:spPr>
          <a:xfrm>
            <a:off x="637877" y="213940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Subscribers — 27%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7877" y="2445916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1,053 customers · $59.49 avg ·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$62,645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total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119" y="2814489"/>
            <a:ext cx="4722763" cy="816843"/>
          </a:xfrm>
          <a:prstGeom prst="rect">
            <a:avLst/>
          </a:prstGeom>
          <a:solidFill>
            <a:srgbClr val="CEE6FD"/>
          </a:solidFill>
          <a:ln/>
        </p:spPr>
      </p:sp>
      <p:sp>
        <p:nvSpPr>
          <p:cNvPr id="10" name="Shape 7"/>
          <p:cNvSpPr/>
          <p:nvPr/>
        </p:nvSpPr>
        <p:spPr>
          <a:xfrm>
            <a:off x="496119" y="2814489"/>
            <a:ext cx="4722763" cy="19050"/>
          </a:xfrm>
          <a:prstGeom prst="roundRect">
            <a:avLst>
              <a:gd name="adj" fmla="val 669768"/>
            </a:avLst>
          </a:prstGeom>
          <a:solidFill>
            <a:srgbClr val="B4CCE3"/>
          </a:solidFill>
          <a:ln/>
        </p:spPr>
      </p:sp>
      <p:sp>
        <p:nvSpPr>
          <p:cNvPr id="11" name="Text 8"/>
          <p:cNvSpPr/>
          <p:nvPr/>
        </p:nvSpPr>
        <p:spPr>
          <a:xfrm>
            <a:off x="637877" y="2956247"/>
            <a:ext cx="197919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Non-Subscribers — 73%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3262759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2,847 customers · $59.87 avg ·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$170,436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total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6119" y="379080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Non-subscribers drive more revenue — opportunity to convert via exclusive benefits.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58338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Customer Segmentation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Segment Breakdown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80% of customers are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Loyal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yet only 958 repeat buyers (&gt;5 purchases) have subscriptions.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453432"/>
            <a:ext cx="3902943" cy="779562"/>
          </a:xfrm>
          <a:prstGeom prst="roundRect">
            <a:avLst>
              <a:gd name="adj" fmla="val 16367"/>
            </a:avLst>
          </a:prstGeom>
          <a:solidFill>
            <a:srgbClr val="CEE6F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668488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616398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958 repeat buyers subscribe vs. 2,518 who don't — conversion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23185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Age Group Insights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Revenue is fairly balanced across age groups, with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Young Adults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leading at $62,143.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CEE6F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114" y="254198"/>
            <a:ext cx="3089970" cy="4635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08741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Power BI Dashboard</a:t>
            </a:r>
            <a:endParaRPr lang="en-US" sz="2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43001"/>
            <a:ext cx="283518" cy="2835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6816" y="17916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Interactive Filters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956816" y="2098179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Subscription, Gender, Category, Shipping Type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608511"/>
            <a:ext cx="283518" cy="28351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56816" y="2657177"/>
            <a:ext cx="19712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Revenue &amp; Sales Charts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956816" y="2963689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By Category and Age Group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474021"/>
            <a:ext cx="283518" cy="28351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56816" y="352268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Metrics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956816" y="3829199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3.9K customers · $59.76 avg · 3.75 rating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5861"/>
            <a:ext cx="517378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82366"/>
            <a:ext cx="2622724" cy="10817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19431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2249686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782366"/>
            <a:ext cx="2622724" cy="10817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97610" y="19431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97610" y="2249686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Reward repeat buyers to grow Loyal segment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1782366"/>
            <a:ext cx="2622724" cy="10817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2092" y="1943174"/>
            <a:ext cx="19159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62092" y="2249686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Balance sales boosts with margin control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05882"/>
            <a:ext cx="2622724" cy="10817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127" y="31666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33127" y="3473202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Highlight top-rated, best-selling items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0601" y="3005882"/>
            <a:ext cx="2622724" cy="108175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97610" y="31666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497610" y="3473202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Focus on high-revenue age groups &amp; express shippers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2026-07-05T10:28:29Z</dcterms:created>
  <dcterms:modified xsi:type="dcterms:W3CDTF">2026-07-05T10:28:29Z</dcterms:modified>
</cp:coreProperties>
</file>